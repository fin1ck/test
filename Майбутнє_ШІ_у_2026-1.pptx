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embeddedFontLs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slide" Target="slides/slide9.xml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type="ctrTitle"/>
          </p:nvPr>
        </p:nvSpPr>
        <p:spPr>
          <a:xfrm>
            <a:off x="1881746" y="1820552"/>
            <a:ext cx="5380500" cy="3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 sz="4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Майбутнє ШІ у 2026 році</a:t>
            </a:r>
            <a:endParaRPr b="1" i="1">
              <a:solidFill>
                <a:schemeClr val="accent4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2836650" y="4660260"/>
            <a:ext cx="34707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14285"/>
              <a:buNone/>
            </a:pPr>
            <a:r>
              <a:rPr lang="en-US">
                <a:solidFill>
                  <a:schemeClr val="accent4"/>
                </a:solidFill>
              </a:rPr>
              <a:t>Що чекає нас після проривів 2025 року?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6562250" y="6076184"/>
            <a:ext cx="22572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Волков Владислав ІПЗ-25</a:t>
            </a:r>
            <a:endParaRPr sz="13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 sz="4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2025 — рік прориву</a:t>
            </a:r>
            <a:endParaRPr b="1" i="1">
              <a:solidFill>
                <a:schemeClr val="accent4"/>
              </a:solidFill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457200" y="2085561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2025 рік став переломним у розвитку штучного інтелекту: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автономні AI-агенти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масове впровадження в бізнесі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здешевлення AI-сервісів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>
            <p:ph type="title"/>
          </p:nvPr>
        </p:nvSpPr>
        <p:spPr>
          <a:xfrm>
            <a:off x="457200" y="274651"/>
            <a:ext cx="82296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 sz="4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Автономні AI-агенти</a:t>
            </a:r>
            <a:endParaRPr b="1" i="1">
              <a:solidFill>
                <a:schemeClr val="accent4"/>
              </a:solidFill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457200" y="1945969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У 2026 році AI-агенти: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самі планують і виконують завдання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працюють 24/7 без втручання людини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замінюють цілі команди у рутинних процесах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 sz="4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AI у бізнесі</a:t>
            </a:r>
            <a:endParaRPr b="1" i="1">
              <a:solidFill>
                <a:schemeClr val="accent4"/>
              </a:solidFill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57200" y="2065864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Компанії у 2026 році: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використовують AI як цифрових менеджерів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автоматизують підтримку клієнтів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приймають рішення на основі прогнозів AI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5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>
            <p:ph type="title"/>
          </p:nvPr>
        </p:nvSpPr>
        <p:spPr>
          <a:xfrm>
            <a:off x="457200" y="274650"/>
            <a:ext cx="8229600" cy="11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 sz="4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Здешевлення AI-сервісів</a:t>
            </a:r>
            <a:endParaRPr b="1" i="1">
              <a:solidFill>
                <a:schemeClr val="accent4"/>
              </a:solidFill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457200" y="2114099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Очікується: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падіння цін на API на 60–80%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доступність AI для малого бізнесу та освіти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поява персонального AI у кожного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3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 sz="4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Нові технологічні горизонти</a:t>
            </a:r>
            <a:endParaRPr b="1" i="1">
              <a:solidFill>
                <a:schemeClr val="accent4"/>
              </a:solidFill>
            </a:endParaRPr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457200" y="1914419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Можливі прориви у 2026: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AI-лікарі та AI-вчителі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персональні цифрові помічники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співпраця людини та AI як команди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 sz="4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Користь для суспільства</a:t>
            </a:r>
            <a:endParaRPr b="1" i="1">
              <a:solidFill>
                <a:schemeClr val="accent4"/>
              </a:solidFill>
            </a:endParaRPr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914390" y="2546006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Позитивні зміни: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економія часу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краща медицина та освіта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нові професії та можливості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4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>
            <p:ph type="title"/>
          </p:nvPr>
        </p:nvSpPr>
        <p:spPr>
          <a:xfrm>
            <a:off x="457200" y="26393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 sz="4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Ризики та виклики</a:t>
            </a:r>
            <a:endParaRPr b="1" i="1">
              <a:solidFill>
                <a:schemeClr val="accent4"/>
              </a:solidFill>
            </a:endParaRPr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637846" y="2076569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Потенційні загрози: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зникнення частини професій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залежність від AI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 етичні та безпекові питання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 sz="4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Висновок</a:t>
            </a:r>
            <a:endParaRPr b="1" i="1">
              <a:solidFill>
                <a:schemeClr val="accent4"/>
              </a:solidFill>
            </a:endParaRPr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57200" y="2627306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2026 рік стане роком співіснування людини та AI.</a:t>
            </a:r>
            <a:endParaRPr>
              <a:solidFill>
                <a:schemeClr val="accent4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lt2"/>
              </a:buClr>
              <a:buSzPts val="3200"/>
              <a:buChar char="●"/>
            </a:pPr>
            <a:r>
              <a:rPr lang="en-US" sz="32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Майбутнє залежить від того, як ми використаємо ці технології</a:t>
            </a:r>
            <a:r>
              <a:rPr lang="en-US" sz="3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